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188720"/>
            <a:ext cx="3840480" cy="3840480"/>
          </a:xfrm>
          <a:prstGeom prst="ellipse">
            <a:avLst/>
          </a:prstGeom>
          <a:solidFill>
            <a:srgbClr val="13315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1C7293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13315C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AOD  •  GROUND PM2.5  •  DHAKA, BANGLADESH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9875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Satellite AOD Replace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Ground-Based PM2.5 Monitoring?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baseline correlation analysis between MODIS Aerosol Optical Depth and DoE-CAMS ground-measured particulate matter (2014–2021)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800600"/>
            <a:ext cx="2011680" cy="0"/>
          </a:xfrm>
          <a:prstGeom prst="line">
            <a:avLst/>
          </a:prstGeom>
          <a:noFill/>
          <a:ln w="31750">
            <a:solidFill>
              <a:srgbClr val="F2A5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Presentation  |  Environmental Data Analysis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data is sparse. Satellite data is abundant.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they agree?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6035040" cy="3977640"/>
          </a:xfrm>
          <a:prstGeom prst="rect">
            <a:avLst>
              <a:gd name="adj" fmla="val 1839"/>
            </a:avLst>
          </a:prstGeom>
          <a:solidFill>
            <a:srgbClr val="E8EEF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286000"/>
            <a:ext cx="5486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pollution is an escalating public-health threat in Bangladesh, and effective, evidence-based policy depends on continuous air-quality data.
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ground monitoring stations suffer from technical limitations and human error — data is often missing or inconsistent.
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Satellite-derived Aerosol Optical Depth (AOD) is proposed as a proxy — but its reliability against real ground measurements has not been quantified for this region.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03720" y="2057400"/>
            <a:ext cx="4709160" cy="3977640"/>
          </a:xfrm>
          <a:prstGeom prst="rect">
            <a:avLst>
              <a:gd name="adj" fmla="val 1839"/>
            </a:avLst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0" y="2331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223760" y="2743200"/>
            <a:ext cx="4114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Quantify the baseline correlation between satellite-derived daily MODIS AOD and DoE-CAMS ground-measured PM2.5 concentrations.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223760" y="4572000"/>
            <a:ext cx="41148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0" y="475488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6E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 Is AOD alone a statistically reliable stand-in for ground PM2.5 monitoring?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ANALYSIS METHODS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4297680"/>
          </a:xfrm>
          <a:prstGeom prst="rect">
            <a:avLst>
              <a:gd name="adj" fmla="val 1702"/>
            </a:avLst>
          </a:prstGeom>
          <a:solidFill>
            <a:srgbClr val="E8EEF3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99339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Ground-Measured Data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46634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quality: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PM2.5, PM10, NO2, SO2, CO, O3
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Meteorology: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RH, rainfall, wind speed &amp; direction, solar radiation, barometric pressure
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hourly, station-based
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2012 – Dec 2021 (DoE-CAMS)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55080" y="1691640"/>
            <a:ext cx="5257800" cy="4297680"/>
          </a:xfrm>
          <a:prstGeom prst="rect">
            <a:avLst>
              <a:gd name="adj" fmla="val 1702"/>
            </a:avLst>
          </a:prstGeom>
          <a:solidFill>
            <a:srgbClr val="0B2545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201168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60920" y="199339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Satellite-Derived Data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75120" y="2651760"/>
            <a:ext cx="46634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Parameter: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MODIS Aerosol Optical Depth (AOD)
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
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2014 – Dec 2021
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alignment: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and satellite station grids differ — merges prioritize satellite-derived station locations.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ANALYSIS METHODS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&amp; Modeling Approach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15184" cy="2331720"/>
          </a:xfrm>
          <a:prstGeom prst="rect">
            <a:avLst>
              <a:gd name="adj" fmla="val 3137"/>
            </a:avLst>
          </a:prstGeom>
          <a:solidFill>
            <a:srgbClr val="E8EEF3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207568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075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265176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3017520"/>
            <a:ext cx="221284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DoE-CAMS observations aggregated into daily averages to match AOD's daily resolution.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63824" y="26974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28416" y="1874520"/>
            <a:ext cx="2615184" cy="2331720"/>
          </a:xfrm>
          <a:prstGeom prst="rect">
            <a:avLst>
              <a:gd name="adj" fmla="val 3137"/>
            </a:avLst>
          </a:prstGeom>
          <a:solidFill>
            <a:srgbClr val="E8EEF3"/>
          </a:solidFill>
          <a:ln/>
        </p:spPr>
      </p:sp>
      <p:sp>
        <p:nvSpPr>
          <p:cNvPr id="11" name="Shape 9"/>
          <p:cNvSpPr/>
          <p:nvPr/>
        </p:nvSpPr>
        <p:spPr>
          <a:xfrm>
            <a:off x="3529584" y="207568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529584" y="2075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9584" y="265176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29584" y="3017520"/>
            <a:ext cx="221284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and inaccurate records removed via Python (Jupyter). Minimum 18 valid hourly readings/station/day required.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43600" y="26974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08192" y="1874520"/>
            <a:ext cx="2615184" cy="2331720"/>
          </a:xfrm>
          <a:prstGeom prst="rect">
            <a:avLst>
              <a:gd name="adj" fmla="val 3137"/>
            </a:avLst>
          </a:prstGeom>
          <a:solidFill>
            <a:srgbClr val="E8EEF3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9360" y="207568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2075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9360" y="265176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09360" y="3017520"/>
            <a:ext cx="221284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and satellite station grids reconciled, prioritizing satellite-derived station locations.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723376" y="26974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887968" y="1874520"/>
            <a:ext cx="2615184" cy="2331720"/>
          </a:xfrm>
          <a:prstGeom prst="rect">
            <a:avLst>
              <a:gd name="adj" fmla="val 3137"/>
            </a:avLst>
          </a:prstGeom>
          <a:solidFill>
            <a:srgbClr val="E8EEF3"/>
          </a:solidFill>
          <a:ln/>
        </p:spPr>
      </p:sp>
      <p:sp>
        <p:nvSpPr>
          <p:cNvPr id="23" name="Shape 21"/>
          <p:cNvSpPr/>
          <p:nvPr/>
        </p:nvSpPr>
        <p:spPr>
          <a:xfrm>
            <a:off x="9089136" y="207568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9089136" y="2075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089136" y="265176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089136" y="3017520"/>
            <a:ext cx="221284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nested OLS regressions estimate PM2.5 as a function of AOD, meteorology, and both combined.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434840"/>
            <a:ext cx="11064240" cy="1874520"/>
          </a:xfrm>
          <a:prstGeom prst="rect">
            <a:avLst>
              <a:gd name="adj" fmla="val 3902"/>
            </a:avLst>
          </a:prstGeom>
          <a:solidFill>
            <a:srgbClr val="0B2545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455371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NESTED OLS REGRESSION MODELS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68680" y="4864608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  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= β0 + β1·AOD + ε   </a:t>
            </a:r>
            <a:pPr indent="0" marL="0">
              <a:lnSpc>
                <a:spcPct val="150000"/>
              </a:lnSpc>
              <a:buNone/>
            </a:pPr>
            <a:r>
              <a:rPr lang="en-US" sz="1250" i="1" dirty="0">
                <a:solidFill>
                  <a:srgbClr val="6E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(AOD only)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  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= β0 + β1T + β2RH + β3WS + β4R + β5BP + β6SR + β7VWS + ε   </a:t>
            </a:r>
            <a:pPr indent="0" marL="0">
              <a:lnSpc>
                <a:spcPct val="150000"/>
              </a:lnSpc>
              <a:buNone/>
            </a:pPr>
            <a:r>
              <a:rPr lang="en-US" sz="1250" i="1" dirty="0">
                <a:solidFill>
                  <a:srgbClr val="6E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(Meteorology only)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   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= β0 + β1·AOD + β2T + … + β8VWS + ε   </a:t>
            </a:r>
            <a:pPr indent="0" marL="0">
              <a:lnSpc>
                <a:spcPct val="150000"/>
              </a:lnSpc>
              <a:buNone/>
            </a:pPr>
            <a:r>
              <a:rPr lang="en-US" sz="1250" i="1" dirty="0">
                <a:solidFill>
                  <a:srgbClr val="6E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(AOD + Meteorology)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Bivariate Correlation Structure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correlation matrix across pollutants and meteorological variables</a:t>
            </a:r>
            <a:endParaRPr lang="en-US" sz="1350" dirty="0"/>
          </a:p>
        </p:txBody>
      </p:sp>
      <p:pic>
        <p:nvPicPr>
          <p:cNvPr id="5" name="Image 0" descr="assets/Correlation_Matrix_Final_Spearman_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46120" y="1691640"/>
            <a:ext cx="5669280" cy="4480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737360"/>
            <a:ext cx="2514600" cy="1298448"/>
          </a:xfrm>
          <a:prstGeom prst="rect">
            <a:avLst>
              <a:gd name="adj" fmla="val 4225"/>
            </a:avLst>
          </a:prstGeom>
          <a:solidFill>
            <a:srgbClr val="E8EEF3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828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↔ PM10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85800" y="21031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= 0.82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85800" y="25420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co-emission signal between particulate species.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2920" y="3218688"/>
            <a:ext cx="2514600" cy="1298448"/>
          </a:xfrm>
          <a:prstGeom prst="rect">
            <a:avLst>
              <a:gd name="adj" fmla="val 4225"/>
            </a:avLst>
          </a:prstGeom>
          <a:solidFill>
            <a:srgbClr val="E8EEF3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33101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↔ Temperature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85800" y="358444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= −0.42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85800" y="4023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temperatures promote dispersion, lowering PM2.5.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02920" y="4700016"/>
            <a:ext cx="2514600" cy="1298448"/>
          </a:xfrm>
          <a:prstGeom prst="rect">
            <a:avLst>
              <a:gd name="adj" fmla="val 4225"/>
            </a:avLst>
          </a:prstGeom>
          <a:solidFill>
            <a:srgbClr val="0B2545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479145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↔ AOD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85800" y="506577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= 0.05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85800" y="550468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— satellite AOD barely tracks ground PM2.5.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AOD vs. PM2.5 — the Headline Relationship</a:t>
            </a:r>
            <a:endParaRPr lang="en-US" sz="2700" dirty="0"/>
          </a:p>
        </p:txBody>
      </p:sp>
      <p:pic>
        <p:nvPicPr>
          <p:cNvPr id="4" name="Image 0" descr="assets/01_AOD_vs_PM2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6949440" cy="4892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1600200"/>
            <a:ext cx="3840480" cy="1051560"/>
          </a:xfrm>
          <a:prstGeom prst="rect">
            <a:avLst>
              <a:gd name="adj" fmla="val 6087"/>
            </a:avLst>
          </a:prstGeom>
          <a:solidFill>
            <a:srgbClr val="E8EEF3"/>
          </a:solidFill>
          <a:ln/>
        </p:spPr>
      </p:sp>
      <p:sp>
        <p:nvSpPr>
          <p:cNvPr id="6" name="Text 3"/>
          <p:cNvSpPr/>
          <p:nvPr/>
        </p:nvSpPr>
        <p:spPr>
          <a:xfrm>
            <a:off x="8001000" y="16916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0.110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001000" y="21945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772400" y="2834640"/>
            <a:ext cx="3840480" cy="1051560"/>
          </a:xfrm>
          <a:prstGeom prst="rect">
            <a:avLst>
              <a:gd name="adj" fmla="val 6087"/>
            </a:avLst>
          </a:prstGeom>
          <a:solidFill>
            <a:srgbClr val="E8EEF3"/>
          </a:solidFill>
          <a:ln/>
        </p:spPr>
      </p:sp>
      <p:sp>
        <p:nvSpPr>
          <p:cNvPr id="9" name="Text 6"/>
          <p:cNvSpPr/>
          <p:nvPr/>
        </p:nvSpPr>
        <p:spPr>
          <a:xfrm>
            <a:off x="8001000" y="29260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= 0.012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001000" y="3429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explained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72400" y="4069080"/>
            <a:ext cx="3840480" cy="1051560"/>
          </a:xfrm>
          <a:prstGeom prst="rect">
            <a:avLst>
              <a:gd name="adj" fmla="val 6087"/>
            </a:avLst>
          </a:prstGeom>
          <a:solidFill>
            <a:srgbClr val="E8EEF3"/>
          </a:solidFill>
          <a:ln/>
        </p:spPr>
      </p:sp>
      <p:sp>
        <p:nvSpPr>
          <p:cNvPr id="12" name="Text 9"/>
          <p:cNvSpPr/>
          <p:nvPr/>
        </p:nvSpPr>
        <p:spPr>
          <a:xfrm>
            <a:off x="8001000" y="41605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&lt; 0.001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001000" y="4663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significant, but practically weak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772400" y="534924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scatter at every AOD level means AOD cannot distinguish clean days from heavily polluted ones at the surface.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 Patterns Diverge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mean PM2.5 peaks in the dry winter (Nov–Feb); monthly mean AOD peaks in the pre-monsoon (Mar–Jun) — the two signals are largely out of phase.</a:t>
            </a:r>
            <a:endParaRPr lang="en-US" sz="1300" dirty="0"/>
          </a:p>
        </p:txBody>
      </p:sp>
      <p:pic>
        <p:nvPicPr>
          <p:cNvPr id="5" name="Image 0" descr="assets/02_Monthly_PM2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828800"/>
            <a:ext cx="5440680" cy="4160520"/>
          </a:xfrm>
          <a:prstGeom prst="rect">
            <a:avLst/>
          </a:prstGeom>
        </p:spPr>
      </p:pic>
      <p:pic>
        <p:nvPicPr>
          <p:cNvPr id="6" name="Image 1" descr="assets/03_Monthly_AO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1828800"/>
            <a:ext cx="5440680" cy="4160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598932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PM2.5 — winter peak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126480" y="598932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AOD — pre-monsoon peak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Weak Link Holds Across Pollutants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AOD vs. daily-average PM10, NO2, NO, NOx, SO2, CO, CO(8hr), O3, O3(8hr) — every pair returns r ≤ 0.11</a:t>
            </a:r>
            <a:endParaRPr lang="en-US" sz="1300" dirty="0"/>
          </a:p>
        </p:txBody>
      </p:sp>
      <p:pic>
        <p:nvPicPr>
          <p:cNvPr id="5" name="Image 0" descr="assets/pollutant_gri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91640" y="1691640"/>
            <a:ext cx="8778240" cy="4709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Models: Meteorology Dominates, AOD Adds Nothing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2103120"/>
        </p:xfrm>
        <a:graphic>
          <a:graphicData uri="http://schemas.openxmlformats.org/drawingml/2006/table">
            <a:tbl>
              <a:tblPr/>
              <a:tblGrid>
                <a:gridCol w="914400"/>
                <a:gridCol w="4023360"/>
                <a:gridCol w="1188720"/>
                <a:gridCol w="1280160"/>
                <a:gridCol w="3657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Predictors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R²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Adj. R²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AOD coefficient (p-value)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</a:rPr>
                        <a:t>AOD only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</a:rPr>
                        <a:t>0.009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</a:rPr>
                        <a:t>−0.021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</a:rPr>
                        <a:t>β = −17.68  (p = 0.591)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</a:rPr>
                        <a:t>Meteorology only (T, RH, WS, Rain, BP, SR, VWS)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</a:rPr>
                        <a:t>0.582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</a:rPr>
                        <a:t>0.477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</a:rPr>
                        <a:t>— (not included)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</a:rPr>
                        <a:t>AOD + Meteorology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</a:rPr>
                        <a:t>0.582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</a:rPr>
                        <a:t>0.458 ↓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</a:rPr>
                        <a:t>β = −5.00  (p = 0.873)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86200"/>
            <a:ext cx="11064240" cy="2331720"/>
          </a:xfrm>
          <a:prstGeom prst="rect">
            <a:avLst>
              <a:gd name="adj" fmla="val 3137"/>
            </a:avLst>
          </a:prstGeom>
          <a:solidFill>
            <a:srgbClr val="E8EEF3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4069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68680" y="4407408"/>
            <a:ext cx="104241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Meteorology alone explains 58% of PM2.5 variance 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temperature, wind speed and rainfall govern dispersion far more than aerosol loading does.
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AOD does not improve fit 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R² is unchanged and Adjusted R² falls, meaning AOD is penalized as unnecessary model complexity, not rewarded as a useful predictor.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CONCLUSIONS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AOD Alone Is Not a Reliable PM2.5 Proxy — Yet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2148840"/>
          </a:xfrm>
          <a:prstGeom prst="rect">
            <a:avLst>
              <a:gd name="adj" fmla="val 3404"/>
            </a:avLst>
          </a:prstGeom>
          <a:solidFill>
            <a:srgbClr val="13315C">
              <a:alpha val="80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93392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93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956816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Very weak baseline link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2606040"/>
            <a:ext cx="483717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rs = 0.05 and OLS R² = 0.009 between MODIS AOD and ground PM2.5.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49240" cy="2148840"/>
          </a:xfrm>
          <a:prstGeom prst="rect">
            <a:avLst>
              <a:gd name="adj" fmla="val 3404"/>
            </a:avLst>
          </a:prstGeom>
          <a:solidFill>
            <a:srgbClr val="13315C">
              <a:alpha val="80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1993392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1993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956816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Meteorology is the real driver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19672" y="2606040"/>
            <a:ext cx="483717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wind and rainfall jointly explain 58% of PM2.5 variance — AOD adds none.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49240" cy="2148840"/>
          </a:xfrm>
          <a:prstGeom prst="rect">
            <a:avLst>
              <a:gd name="adj" fmla="val 3404"/>
            </a:avLst>
          </a:prstGeom>
          <a:solidFill>
            <a:srgbClr val="13315C">
              <a:alpha val="80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4370832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370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4334256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 mismatch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4672" y="4983480"/>
            <a:ext cx="483717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peaks in dry winter; AOD peaks pre-monsoon — the signals move out of phase.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4114800"/>
            <a:ext cx="5349240" cy="2148840"/>
          </a:xfrm>
          <a:prstGeom prst="rect">
            <a:avLst>
              <a:gd name="adj" fmla="val 3404"/>
            </a:avLst>
          </a:prstGeom>
          <a:solidFill>
            <a:srgbClr val="13315C">
              <a:alpha val="80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4370832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1" name="Text 19"/>
          <p:cNvSpPr/>
          <p:nvPr/>
        </p:nvSpPr>
        <p:spPr>
          <a:xfrm>
            <a:off x="6519672" y="4370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40880" y="4334256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forward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19672" y="4983480"/>
            <a:ext cx="483717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Meteorological adjustment, better spatial/temporal matching, and larger high-quality datasets are needed before AOD can proxy for surface PM2.5.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480560"/>
            <a:ext cx="3291840" cy="3291840"/>
          </a:xfrm>
          <a:prstGeom prst="ellipse">
            <a:avLst/>
          </a:prstGeom>
          <a:solidFill>
            <a:srgbClr val="13315C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DoE-CAMS ground network &amp; MODIS AOD (2012–2021)  ·  Analysis: Python &amp; OLS regression (statsmodels)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3794760"/>
            <a:ext cx="2011680" cy="0"/>
          </a:xfrm>
          <a:prstGeom prst="line">
            <a:avLst/>
          </a:prstGeom>
          <a:noFill/>
          <a:ln w="31750">
            <a:solidFill>
              <a:srgbClr val="F2A5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2026-09-11T05:54:18Z</dcterms:created>
  <dcterms:modified xsi:type="dcterms:W3CDTF">2026-09-11T05:54:18Z</dcterms:modified>
</cp:coreProperties>
</file>